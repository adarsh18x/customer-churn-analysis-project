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371600"/>
          </a:xfrm>
          <a:prstGeom prst="rect">
            <a:avLst/>
          </a:prstGeom>
          <a:noFill/>
        </p:spPr>
        <p:txBody>
          <a:bodyPr wrap="square">
            <a:spAutoFit/>
          </a:bodyPr>
          <a:lstStyle/>
          <a:p>
            <a:pPr>
              <a:defRPr sz="4400" b="1">
                <a:solidFill>
                  <a:srgbClr val="FFFFFF"/>
                </a:solidFill>
              </a:defRPr>
            </a:pPr>
            <a:r>
              <a:t>Customer Churn Analysis</a:t>
            </a:r>
          </a:p>
          <a:p>
            <a:pPr>
              <a:defRPr sz="2800">
                <a:solidFill>
                  <a:srgbClr val="E76F51"/>
                </a:solidFill>
              </a:defRPr>
            </a:pPr>
            <a:r>
              <a:t>Insight &amp; Analysis Report</a:t>
            </a:r>
          </a:p>
        </p:txBody>
      </p:sp>
      <p:sp>
        <p:nvSpPr>
          <p:cNvPr id="4" name="TextBox 3"/>
          <p:cNvSpPr txBox="1"/>
          <p:nvPr/>
        </p:nvSpPr>
        <p:spPr>
          <a:xfrm>
            <a:off x="731520" y="3931920"/>
            <a:ext cx="10698480" cy="548640"/>
          </a:xfrm>
          <a:prstGeom prst="rect">
            <a:avLst/>
          </a:prstGeom>
          <a:noFill/>
        </p:spPr>
        <p:txBody>
          <a:bodyPr wrap="none">
            <a:spAutoFit/>
          </a:bodyPr>
          <a:lstStyle/>
          <a:p>
            <a:pPr>
              <a:defRPr sz="1600">
                <a:solidFill>
                  <a:srgbClr val="FFFFFF"/>
                </a:solidFill>
              </a:defRPr>
            </a:pPr>
            <a:r>
              <a:t>Prepared from Churn-AnalysisProj dataset  |  25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Executive Summary</a:t>
            </a:r>
          </a:p>
        </p:txBody>
      </p:sp>
      <p:graphicFrame>
        <p:nvGraphicFramePr>
          <p:cNvPr id="3" name="Table 2"/>
          <p:cNvGraphicFramePr>
            <a:graphicFrameLocks noGrp="1"/>
          </p:cNvGraphicFramePr>
          <p:nvPr/>
        </p:nvGraphicFramePr>
        <p:xfrm>
          <a:off x="548640" y="1463040"/>
          <a:ext cx="7772400" cy="3840480"/>
        </p:xfrm>
        <a:graphic>
          <a:graphicData uri="http://schemas.openxmlformats.org/drawingml/2006/table">
            <a:tbl>
              <a:tblPr firstRow="1" bandRow="1">
                <a:tableStyleId>{5C22544A-7EE6-4342-B048-85BDC9FD1C3A}</a:tableStyleId>
              </a:tblPr>
              <a:tblGrid>
                <a:gridCol w="4572000"/>
                <a:gridCol w="3200400"/>
              </a:tblGrid>
              <a:tr h="640080">
                <a:tc>
                  <a:txBody>
                    <a:bodyPr/>
                    <a:lstStyle/>
                    <a:p>
                      <a:pPr>
                        <a:defRPr sz="1600" b="1"/>
                      </a:pPr>
                      <a:r>
                        <a:t>Total Customers</a:t>
                      </a:r>
                    </a:p>
                  </a:txBody>
                  <a:tcPr/>
                </a:tc>
                <a:tc>
                  <a:txBody>
                    <a:bodyPr/>
                    <a:lstStyle/>
                    <a:p>
                      <a:pPr>
                        <a:defRPr sz="1600"/>
                      </a:pPr>
                      <a:r>
                        <a:t>21</a:t>
                      </a:r>
                    </a:p>
                  </a:txBody>
                  <a:tcPr/>
                </a:tc>
              </a:tr>
              <a:tr h="640080">
                <a:tc>
                  <a:txBody>
                    <a:bodyPr/>
                    <a:lstStyle/>
                    <a:p>
                      <a:pPr>
                        <a:defRPr sz="1600" b="1"/>
                      </a:pPr>
                      <a:r>
                        <a:t>Churn Rate</a:t>
                      </a:r>
                    </a:p>
                  </a:txBody>
                  <a:tcPr/>
                </a:tc>
                <a:tc>
                  <a:txBody>
                    <a:bodyPr/>
                    <a:lstStyle/>
                    <a:p>
                      <a:pPr>
                        <a:defRPr sz="1600"/>
                      </a:pPr>
                      <a:r>
                        <a:t>28.57%  (6 churned)</a:t>
                      </a:r>
                    </a:p>
                  </a:txBody>
                  <a:tcPr/>
                </a:tc>
              </a:tr>
              <a:tr h="640080">
                <a:tc>
                  <a:txBody>
                    <a:bodyPr/>
                    <a:lstStyle/>
                    <a:p>
                      <a:pPr>
                        <a:defRPr sz="1600" b="1"/>
                      </a:pPr>
                      <a:r>
                        <a:t>Retention Rate</a:t>
                      </a:r>
                    </a:p>
                  </a:txBody>
                  <a:tcPr/>
                </a:tc>
                <a:tc>
                  <a:txBody>
                    <a:bodyPr/>
                    <a:lstStyle/>
                    <a:p>
                      <a:pPr>
                        <a:defRPr sz="1600"/>
                      </a:pPr>
                      <a:r>
                        <a:t>71.43%  (15 retained)</a:t>
                      </a:r>
                    </a:p>
                  </a:txBody>
                  <a:tcPr/>
                </a:tc>
              </a:tr>
              <a:tr h="640080">
                <a:tc>
                  <a:txBody>
                    <a:bodyPr/>
                    <a:lstStyle/>
                    <a:p>
                      <a:pPr>
                        <a:defRPr sz="1600" b="1"/>
                      </a:pPr>
                      <a:r>
                        <a:t>ARPU</a:t>
                      </a:r>
                    </a:p>
                  </a:txBody>
                  <a:tcPr/>
                </a:tc>
                <a:tc>
                  <a:txBody>
                    <a:bodyPr/>
                    <a:lstStyle/>
                    <a:p>
                      <a:pPr>
                        <a:defRPr sz="1600"/>
                      </a:pPr>
                      <a:r>
                        <a:t>18.85</a:t>
                      </a:r>
                    </a:p>
                  </a:txBody>
                  <a:tcPr/>
                </a:tc>
              </a:tr>
              <a:tr h="640080">
                <a:tc>
                  <a:txBody>
                    <a:bodyPr/>
                    <a:lstStyle/>
                    <a:p>
                      <a:pPr>
                        <a:defRPr sz="1600" b="1"/>
                      </a:pPr>
                      <a:r>
                        <a:t>Escalation Rate</a:t>
                      </a:r>
                    </a:p>
                  </a:txBody>
                  <a:tcPr/>
                </a:tc>
                <a:tc>
                  <a:txBody>
                    <a:bodyPr/>
                    <a:lstStyle/>
                    <a:p>
                      <a:pPr>
                        <a:defRPr sz="1600"/>
                      </a:pPr>
                      <a:r>
                        <a:t>19.05%</a:t>
                      </a:r>
                    </a:p>
                  </a:txBody>
                  <a:tcPr/>
                </a:tc>
              </a:tr>
              <a:tr h="640080">
                <a:tc>
                  <a:txBody>
                    <a:bodyPr/>
                    <a:lstStyle/>
                    <a:p>
                      <a:pPr>
                        <a:defRPr sz="1600" b="1"/>
                      </a:pPr>
                      <a:r>
                        <a:t>Escalation–Churn Correlation</a:t>
                      </a:r>
                    </a:p>
                  </a:txBody>
                  <a:tcPr/>
                </a:tc>
                <a:tc>
                  <a:txBody>
                    <a:bodyPr/>
                    <a:lstStyle/>
                    <a:p>
                      <a:pPr>
                        <a:defRPr sz="1600"/>
                      </a:pPr>
                      <a:r>
                        <a:t>0.47</a:t>
                      </a:r>
                    </a:p>
                  </a:txBody>
                  <a:tcPr/>
                </a:tc>
              </a:tr>
            </a:tbl>
          </a:graphicData>
        </a:graphic>
      </p:graphicFrame>
      <p:sp>
        <p:nvSpPr>
          <p:cNvPr id="4" name="TextBox 3"/>
          <p:cNvSpPr txBox="1"/>
          <p:nvPr/>
        </p:nvSpPr>
        <p:spPr>
          <a:xfrm>
            <a:off x="8503920" y="1463040"/>
            <a:ext cx="3108960" cy="4114800"/>
          </a:xfrm>
          <a:prstGeom prst="rect">
            <a:avLst/>
          </a:prstGeom>
          <a:noFill/>
        </p:spPr>
        <p:txBody>
          <a:bodyPr wrap="square">
            <a:spAutoFit/>
          </a:bodyPr>
          <a:lstStyle/>
          <a:p>
            <a:pPr>
              <a:defRPr sz="1500">
                <a:solidFill>
                  <a:srgbClr val="4A4A4A"/>
                </a:solidFill>
              </a:defRPr>
            </a:pPr>
            <a:r>
              <a:t>Churn is moderate-to-high and concentrated in specific plans, contract types, and regions — a structured, addressable retention problem rather than random attrition.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Insight 1: Basic Plan Customers Are the Most at Risk</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1800" b="1">
                <a:solidFill>
                  <a:srgbClr val="4A4A4A"/>
                </a:solidFill>
              </a:defRPr>
            </a:pPr>
            <a:r>
              <a:t>Churn rate by plan type:</a:t>
            </a:r>
          </a:p>
          <a:p>
            <a:pPr>
              <a:spcAft>
                <a:spcPts val="1000"/>
              </a:spcAft>
              <a:defRPr sz="1800" b="0">
                <a:solidFill>
                  <a:srgbClr val="4A4A4A"/>
                </a:solidFill>
              </a:defRPr>
            </a:pPr>
            <a:r>
              <a:t>• Basic: 60.00%</a:t>
            </a:r>
          </a:p>
          <a:p>
            <a:pPr>
              <a:spcAft>
                <a:spcPts val="1000"/>
              </a:spcAft>
              <a:defRPr sz="1800" b="0">
                <a:solidFill>
                  <a:srgbClr val="4A4A4A"/>
                </a:solidFill>
              </a:defRPr>
            </a:pPr>
            <a:r>
              <a:t>• Standard: 22.22%</a:t>
            </a:r>
          </a:p>
          <a:p>
            <a:pPr>
              <a:spcAft>
                <a:spcPts val="1000"/>
              </a:spcAft>
              <a:defRPr sz="1800" b="0">
                <a:solidFill>
                  <a:srgbClr val="4A4A4A"/>
                </a:solidFill>
              </a:defRPr>
            </a:pPr>
            <a:r>
              <a:t>• Premium: 14.29%</a:t>
            </a:r>
          </a:p>
          <a:p>
            <a:pPr>
              <a:spcAft>
                <a:spcPts val="1000"/>
              </a:spcAft>
              <a:defRPr sz="1800" b="0">
                <a:solidFill>
                  <a:srgbClr val="4A4A4A"/>
                </a:solidFill>
              </a:defRPr>
            </a:pPr>
          </a:p>
          <a:p>
            <a:pPr>
              <a:spcAft>
                <a:spcPts val="1000"/>
              </a:spcAft>
              <a:defRPr sz="1800" b="0">
                <a:solidFill>
                  <a:srgbClr val="4A4A4A"/>
                </a:solidFill>
              </a:defRPr>
            </a:pPr>
            <a:r>
              <a:t>Basic plan customers churn at nearly 3x the rate of Standard plan users and more than 4x Premium users — likely driven by lower value perception, weaker engagement, or limited plan benefits.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Insight 2: Monthly Contracts Churn Far More Than Annual</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1800" b="1">
                <a:solidFill>
                  <a:srgbClr val="4A4A4A"/>
                </a:solidFill>
              </a:defRPr>
            </a:pPr>
            <a:r>
              <a:t>Churn rate by contract type:</a:t>
            </a:r>
          </a:p>
          <a:p>
            <a:pPr>
              <a:spcAft>
                <a:spcPts val="1000"/>
              </a:spcAft>
              <a:defRPr sz="1800" b="0">
                <a:solidFill>
                  <a:srgbClr val="4A4A4A"/>
                </a:solidFill>
              </a:defRPr>
            </a:pPr>
            <a:r>
              <a:t>• Monthly: 55.56%</a:t>
            </a:r>
          </a:p>
          <a:p>
            <a:pPr>
              <a:spcAft>
                <a:spcPts val="1000"/>
              </a:spcAft>
              <a:defRPr sz="1800" b="0">
                <a:solidFill>
                  <a:srgbClr val="4A4A4A"/>
                </a:solidFill>
              </a:defRPr>
            </a:pPr>
            <a:r>
              <a:t>• Annual: 8.33%</a:t>
            </a:r>
          </a:p>
          <a:p>
            <a:pPr>
              <a:spcAft>
                <a:spcPts val="1000"/>
              </a:spcAft>
              <a:defRPr sz="1800" b="0">
                <a:solidFill>
                  <a:srgbClr val="4A4A4A"/>
                </a:solidFill>
              </a:defRPr>
            </a:pPr>
          </a:p>
          <a:p>
            <a:pPr>
              <a:spcAft>
                <a:spcPts val="1000"/>
              </a:spcAft>
              <a:defRPr sz="1800" b="0">
                <a:solidFill>
                  <a:srgbClr val="4A4A4A"/>
                </a:solidFill>
              </a:defRPr>
            </a:pPr>
            <a:r>
              <a:t>Month-to-month customers are over 6x more likely to churn than annual-contract customers, suggesting pricing, flexibility, or perceived service value isn't compelling enough to retain short-term subscribers.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Insight 3: Karnataka &amp; Meghalaya Are Critical Risk Markets</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1800" b="1">
                <a:solidFill>
                  <a:srgbClr val="4A4A4A"/>
                </a:solidFill>
              </a:defRPr>
            </a:pPr>
            <a:r>
              <a:t>Churn rate by state (highest risk):</a:t>
            </a:r>
          </a:p>
          <a:p>
            <a:pPr>
              <a:spcAft>
                <a:spcPts val="1000"/>
              </a:spcAft>
              <a:defRPr sz="1800" b="0">
                <a:solidFill>
                  <a:srgbClr val="4A4A4A"/>
                </a:solidFill>
              </a:defRPr>
            </a:pPr>
            <a:r>
              <a:t>• Karnataka: 100.00%</a:t>
            </a:r>
          </a:p>
          <a:p>
            <a:pPr>
              <a:spcAft>
                <a:spcPts val="1000"/>
              </a:spcAft>
              <a:defRPr sz="1800" b="0">
                <a:solidFill>
                  <a:srgbClr val="4A4A4A"/>
                </a:solidFill>
              </a:defRPr>
            </a:pPr>
            <a:r>
              <a:t>• Meghalaya: 66.67%</a:t>
            </a:r>
          </a:p>
          <a:p>
            <a:pPr>
              <a:spcAft>
                <a:spcPts val="1000"/>
              </a:spcAft>
              <a:defRPr sz="1800" b="0">
                <a:solidFill>
                  <a:srgbClr val="4A4A4A"/>
                </a:solidFill>
              </a:defRPr>
            </a:pPr>
            <a:r>
              <a:t>• Telangana: 50.00%</a:t>
            </a:r>
          </a:p>
          <a:p>
            <a:pPr>
              <a:spcAft>
                <a:spcPts val="1000"/>
              </a:spcAft>
              <a:defRPr sz="1800" b="0">
                <a:solidFill>
                  <a:srgbClr val="4A4A4A"/>
                </a:solidFill>
              </a:defRPr>
            </a:pPr>
            <a:r>
              <a:t>• Delhi: 25.00%</a:t>
            </a:r>
          </a:p>
          <a:p>
            <a:pPr>
              <a:spcAft>
                <a:spcPts val="1000"/>
              </a:spcAft>
              <a:defRPr sz="1800" b="0">
                <a:solidFill>
                  <a:srgbClr val="4A4A4A"/>
                </a:solidFill>
              </a:defRPr>
            </a:pPr>
            <a:r>
              <a:t>• Kathmandu, Maharashtra, Nagaland, Rajasthan, Uttar Pradesh: 0.00%</a:t>
            </a:r>
          </a:p>
          <a:p>
            <a:pPr>
              <a:spcAft>
                <a:spcPts val="1000"/>
              </a:spcAft>
              <a:defRPr sz="1800" b="0">
                <a:solidFill>
                  <a:srgbClr val="4A4A4A"/>
                </a:solidFill>
              </a:defRPr>
            </a:pPr>
          </a:p>
          <a:p>
            <a:pPr>
              <a:spcAft>
                <a:spcPts val="1000"/>
              </a:spcAft>
              <a:defRPr sz="1800" b="0">
                <a:solidFill>
                  <a:srgbClr val="4A4A4A"/>
                </a:solidFill>
              </a:defRPr>
            </a:pPr>
            <a:r>
              <a:t>Retention efforts should be prioritized in Karnataka, Meghalaya, and Telangana, where churn is disproportionately concentrated.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Insight 4: Escalations Strongly Correlate With Churn</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1800" b="1">
                <a:solidFill>
                  <a:srgbClr val="4A4A4A"/>
                </a:solidFill>
              </a:defRPr>
            </a:pPr>
            <a:r>
              <a:t>Correlation between escalations and churn: 0.47</a:t>
            </a:r>
          </a:p>
          <a:p>
            <a:pPr>
              <a:spcAft>
                <a:spcPts val="1000"/>
              </a:spcAft>
              <a:defRPr sz="1800" b="0">
                <a:solidFill>
                  <a:srgbClr val="4A4A4A"/>
                </a:solidFill>
              </a:defRPr>
            </a:pPr>
            <a:r>
              <a:t>Escalation rate: 19.05%</a:t>
            </a:r>
          </a:p>
          <a:p>
            <a:pPr>
              <a:spcAft>
                <a:spcPts val="1000"/>
              </a:spcAft>
              <a:defRPr sz="1800" b="0">
                <a:solidFill>
                  <a:srgbClr val="4A4A4A"/>
                </a:solidFill>
              </a:defRPr>
            </a:pPr>
            <a:r>
              <a:t>Average complaints per customer: 0.43</a:t>
            </a:r>
          </a:p>
          <a:p>
            <a:pPr>
              <a:spcAft>
                <a:spcPts val="1000"/>
              </a:spcAft>
              <a:defRPr sz="1800" b="0">
                <a:solidFill>
                  <a:srgbClr val="4A4A4A"/>
                </a:solidFill>
              </a:defRPr>
            </a:pPr>
          </a:p>
          <a:p>
            <a:pPr>
              <a:spcAft>
                <a:spcPts val="1000"/>
              </a:spcAft>
              <a:defRPr sz="1800" b="0">
                <a:solidFill>
                  <a:srgbClr val="4A4A4A"/>
                </a:solidFill>
              </a:defRPr>
            </a:pPr>
            <a:r>
              <a:t>Customers who raise support escalations are notably more likely to churn. Support quality and service recovery should be treated as a core retention lever, not just a cost center.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Insight 5: Churn Is Driving Measurable Revenue Loss</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1800" b="1">
                <a:solidFill>
                  <a:srgbClr val="4A4A4A"/>
                </a:solidFill>
              </a:defRPr>
            </a:pPr>
            <a:r>
              <a:t>Churned customers account for 73.94 in monthly recurring charges.</a:t>
            </a:r>
          </a:p>
          <a:p>
            <a:pPr>
              <a:spcAft>
                <a:spcPts val="1000"/>
              </a:spcAft>
              <a:defRPr sz="1800" b="0">
                <a:solidFill>
                  <a:srgbClr val="4A4A4A"/>
                </a:solidFill>
              </a:defRPr>
            </a:pPr>
          </a:p>
          <a:p>
            <a:pPr>
              <a:spcAft>
                <a:spcPts val="1000"/>
              </a:spcAft>
              <a:defRPr sz="1800" b="0">
                <a:solidFill>
                  <a:srgbClr val="4A4A4A"/>
                </a:solidFill>
              </a:defRPr>
            </a:pPr>
            <a:r>
              <a:t>Even with a small customer base, this represents a meaningful and recurring revenue leak that compounds over time if left unaddressed.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Customer Risk Profiling</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1800" b="1">
                <a:solidFill>
                  <a:srgbClr val="4A4A4A"/>
                </a:solidFill>
              </a:defRPr>
            </a:pPr>
            <a:r>
              <a:t>Segmentation based on churn_score (Low: 0-49, Medium: 50-69, High: 70-100):</a:t>
            </a:r>
          </a:p>
          <a:p>
            <a:pPr>
              <a:spcAft>
                <a:spcPts val="1000"/>
              </a:spcAft>
              <a:defRPr sz="1800" b="0">
                <a:solidFill>
                  <a:srgbClr val="4A4A4A"/>
                </a:solidFill>
              </a:defRPr>
            </a:pPr>
            <a:r>
              <a:t>• Low risk: 13 customers</a:t>
            </a:r>
          </a:p>
          <a:p>
            <a:pPr>
              <a:spcAft>
                <a:spcPts val="1000"/>
              </a:spcAft>
              <a:defRPr sz="1800" b="0">
                <a:solidFill>
                  <a:srgbClr val="4A4A4A"/>
                </a:solidFill>
              </a:defRPr>
            </a:pPr>
            <a:r>
              <a:t>• Medium risk: 2 customers</a:t>
            </a:r>
          </a:p>
          <a:p>
            <a:pPr>
              <a:spcAft>
                <a:spcPts val="1000"/>
              </a:spcAft>
              <a:defRPr sz="1800" b="0">
                <a:solidFill>
                  <a:srgbClr val="4A4A4A"/>
                </a:solidFill>
              </a:defRPr>
            </a:pPr>
            <a:r>
              <a:t>• High risk: 6 customers</a:t>
            </a:r>
          </a:p>
          <a:p>
            <a:pPr>
              <a:spcAft>
                <a:spcPts val="1000"/>
              </a:spcAft>
              <a:defRPr sz="1800" b="0">
                <a:solidFill>
                  <a:srgbClr val="4A4A4A"/>
                </a:solidFill>
              </a:defRPr>
            </a:pPr>
          </a:p>
          <a:p>
            <a:pPr>
              <a:spcAft>
                <a:spcPts val="1000"/>
              </a:spcAft>
              <a:defRPr sz="1800" b="0">
                <a:solidFill>
                  <a:srgbClr val="4A4A4A"/>
                </a:solidFill>
              </a:defRPr>
            </a:pPr>
            <a:r>
              <a:t>A small, concentrated group of high-risk customers drives the majority of the retention challenge, making targeted intervention highly cost-effective.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Recommended Actions</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2000" b="0">
                <a:solidFill>
                  <a:srgbClr val="4A4A4A"/>
                </a:solidFill>
              </a:defRPr>
            </a:pPr>
            <a:r>
              <a:t>1. Retention campaign for Basic plan customers — value upgrades, better bundling, exit surveys.</a:t>
            </a:r>
          </a:p>
          <a:p>
            <a:pPr>
              <a:spcAft>
                <a:spcPts val="1000"/>
              </a:spcAft>
              <a:defRPr sz="2000" b="0">
                <a:solidFill>
                  <a:srgbClr val="4A4A4A"/>
                </a:solidFill>
              </a:defRPr>
            </a:pPr>
            <a:r>
              <a:t>2. Reduce month-to-month churn — incentivize annual conversion with loyalty benefits.</a:t>
            </a:r>
          </a:p>
          <a:p>
            <a:pPr>
              <a:spcAft>
                <a:spcPts val="1000"/>
              </a:spcAft>
              <a:defRPr sz="2000" b="0">
                <a:solidFill>
                  <a:srgbClr val="4A4A4A"/>
                </a:solidFill>
              </a:defRPr>
            </a:pPr>
            <a:r>
              <a:t>3. Prioritize high-risk states — proactive outreach in Karnataka, Meghalaya, Telangana.</a:t>
            </a:r>
          </a:p>
          <a:p>
            <a:pPr>
              <a:spcAft>
                <a:spcPts val="1000"/>
              </a:spcAft>
              <a:defRPr sz="2000" b="0">
                <a:solidFill>
                  <a:srgbClr val="4A4A4A"/>
                </a:solidFill>
              </a:defRPr>
            </a:pPr>
            <a:r>
              <a:t>4. Strengthen complaint resolution — faster escalation tracking and recovery flows.</a:t>
            </a:r>
          </a:p>
          <a:p>
            <a:pPr>
              <a:spcAft>
                <a:spcPts val="1000"/>
              </a:spcAft>
              <a:defRPr sz="2000" b="0">
                <a:solidFill>
                  <a:srgbClr val="4A4A4A"/>
                </a:solidFill>
              </a:defRPr>
            </a:pPr>
            <a:r>
              <a:t>5. Monitor churn risk monthly — recurring dashboard by plan, contract, and geography.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800" b="1">
                <a:solidFill>
                  <a:srgbClr val="FFFFFF"/>
                </a:solidFill>
              </a:defRPr>
            </a:pPr>
            <a:r>
              <a:t>Final Conclusion</a:t>
            </a:r>
          </a:p>
        </p:txBody>
      </p:sp>
      <p:sp>
        <p:nvSpPr>
          <p:cNvPr id="3" name="TextBox 2"/>
          <p:cNvSpPr txBox="1"/>
          <p:nvPr/>
        </p:nvSpPr>
        <p:spPr>
          <a:xfrm>
            <a:off x="548640" y="1645920"/>
            <a:ext cx="11064240" cy="4754880"/>
          </a:xfrm>
          <a:prstGeom prst="rect">
            <a:avLst/>
          </a:prstGeom>
          <a:noFill/>
        </p:spPr>
        <p:txBody>
          <a:bodyPr wrap="square">
            <a:spAutoFit/>
          </a:bodyPr>
          <a:lstStyle/>
          <a:p>
            <a:pPr>
              <a:spcAft>
                <a:spcPts val="1000"/>
              </a:spcAft>
              <a:defRPr sz="2000" b="1">
                <a:solidFill>
                  <a:srgbClr val="4A4A4A"/>
                </a:solidFill>
              </a:defRPr>
            </a:pPr>
            <a:r>
              <a:t>The data reflects a concentrated, measurable, and actionable retention challenge.</a:t>
            </a:r>
          </a:p>
          <a:p>
            <a:pPr>
              <a:spcAft>
                <a:spcPts val="1000"/>
              </a:spcAft>
              <a:defRPr sz="2000" b="0">
                <a:solidFill>
                  <a:srgbClr val="4A4A4A"/>
                </a:solidFill>
              </a:defRPr>
            </a:pPr>
          </a:p>
          <a:p>
            <a:pPr>
              <a:spcAft>
                <a:spcPts val="1000"/>
              </a:spcAft>
              <a:defRPr sz="2000" b="0">
                <a:solidFill>
                  <a:srgbClr val="4A4A4A"/>
                </a:solidFill>
              </a:defRPr>
            </a:pPr>
            <a:r>
              <a:t>The strongest churn drivers are Basic plan subscriptions, monthly contracts, and unresolved service escalations within specific states. Prioritizing these segments offers the fastest path to reducing churn and protecting recurring revenue.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